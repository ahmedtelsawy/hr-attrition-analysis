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61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2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Multiplier</c:v>
                </c:pt>
              </c:strCache>
            </c:strRef>
          </c:tx>
          <c:spPr>
            <a:solidFill>
              <a:srgbClr val="5B668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32D-4D4E-BA4F-755B45B594F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32D-4D4E-BA4F-755B45B594F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32D-4D4E-BA4F-755B45B594F6}"/>
              </c:ext>
            </c:extLst>
          </c:dPt>
          <c:dPt>
            <c:idx val="3"/>
            <c:invertIfNegative val="0"/>
            <c:bubble3D val="0"/>
            <c:spPr>
              <a:solidFill>
                <a:srgbClr val="F9616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32D-4D4E-BA4F-755B45B594F6}"/>
              </c:ext>
            </c:extLst>
          </c:dPt>
          <c:dPt>
            <c:idx val="4"/>
            <c:invertIfNegative val="0"/>
            <c:bubble3D val="0"/>
            <c:spPr>
              <a:solidFill>
                <a:srgbClr val="F9616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32D-4D4E-BA4F-755B45B594F6}"/>
              </c:ext>
            </c:extLst>
          </c:dPt>
          <c:dPt>
            <c:idx val="5"/>
            <c:invertIfNegative val="0"/>
            <c:bubble3D val="0"/>
            <c:spPr>
              <a:solidFill>
                <a:srgbClr val="F9616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32D-4D4E-BA4F-755B45B594F6}"/>
              </c:ext>
            </c:extLst>
          </c:dPt>
          <c:dPt>
            <c:idx val="6"/>
            <c:invertIfNegative val="0"/>
            <c:bubble3D val="0"/>
            <c:spPr>
              <a:solidFill>
                <a:srgbClr val="F9616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90F-4ABB-82AE-0A5525117653}"/>
              </c:ext>
            </c:extLst>
          </c:dPt>
          <c:dLbls>
            <c:numFmt formatCode="0.00&quot;x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4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Baseline</c:v>
                </c:pt>
                <c:pt idx="1">
                  <c:v>Poor Work-Life
Balance</c:v>
                </c:pt>
                <c:pt idx="2">
                  <c:v>Low Job
Involvement</c:v>
                </c:pt>
                <c:pt idx="3">
                  <c:v>Under 25
years old</c:v>
                </c:pt>
                <c:pt idx="4">
                  <c:v>New Hires
(Yr 1-2) + OT</c:v>
                </c:pt>
                <c:pt idx="5">
                  <c:v>Low Income + OT</c:v>
                </c:pt>
                <c:pt idx="6">
                  <c:v>Sales Reps
+ OT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1.94</c:v>
                </c:pt>
                <c:pt idx="2">
                  <c:v>2.09</c:v>
                </c:pt>
                <c:pt idx="3">
                  <c:v>2.4300000000000002</c:v>
                </c:pt>
                <c:pt idx="4">
                  <c:v>3.16</c:v>
                </c:pt>
                <c:pt idx="5">
                  <c:v>3.48</c:v>
                </c:pt>
                <c:pt idx="6">
                  <c:v>4.1399999999999997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32D-4D4E-BA4F-755B45B594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6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x Baseline Attrition Rate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6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685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5B6685"/>
                </a:solidFill>
                <a:latin typeface="Arial"/>
              </a:rPr>
              <a:t>Attrition rate by job involvement level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86D-49B3-95F2-34664E66C7A3}"/>
              </c:ext>
            </c:extLst>
          </c:dPt>
          <c:dPt>
            <c:idx val="1"/>
            <c:invertIfNegative val="0"/>
            <c:bubble3D val="0"/>
            <c:spPr>
              <a:solidFill>
                <a:srgbClr val="F0A2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86D-49B3-95F2-34664E66C7A3}"/>
              </c:ext>
            </c:extLst>
          </c:dPt>
          <c:dPt>
            <c:idx val="2"/>
            <c:invertIfNegative val="0"/>
            <c:bubble3D val="0"/>
            <c:spPr>
              <a:solidFill>
                <a:srgbClr val="C6CB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86D-49B3-95F2-34664E66C7A3}"/>
              </c:ext>
            </c:extLst>
          </c:dPt>
          <c:dPt>
            <c:idx val="3"/>
            <c:invertIfNegative val="0"/>
            <c:bubble3D val="0"/>
            <c:spPr>
              <a:solidFill>
                <a:srgbClr val="5B66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86D-49B3-95F2-34664E66C7A3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4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Level 1 (low)</c:v>
                </c:pt>
                <c:pt idx="1">
                  <c:v>Level 2</c:v>
                </c:pt>
                <c:pt idx="2">
                  <c:v>Level 3</c:v>
                </c:pt>
                <c:pt idx="3">
                  <c:v>Level 4 (high)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33.700000000000003</c:v>
                </c:pt>
                <c:pt idx="1">
                  <c:v>18.899999999999999</c:v>
                </c:pt>
                <c:pt idx="2">
                  <c:v>14.4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86D-49B3-95F2-34664E66C7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6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Attrition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6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685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5B6685"/>
                </a:solidFill>
                <a:latin typeface="Arial"/>
              </a:rPr>
              <a:t>Attrition rate by tenure and overtime status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Overtime</c:v>
                </c:pt>
              </c:strCache>
            </c:strRef>
          </c:tx>
          <c:spPr>
            <a:solidFill>
              <a:srgbClr val="5B668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0-2 yrs</c:v>
                </c:pt>
                <c:pt idx="1">
                  <c:v>3-5 yrs</c:v>
                </c:pt>
                <c:pt idx="2">
                  <c:v>6-10 yrs</c:v>
                </c:pt>
                <c:pt idx="3">
                  <c:v>11+ yrs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20.6</c:v>
                </c:pt>
                <c:pt idx="1">
                  <c:v>7.8</c:v>
                </c:pt>
                <c:pt idx="2">
                  <c:v>7.3</c:v>
                </c:pt>
                <c:pt idx="3">
                  <c:v>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15-444C-A094-07BEFD756E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Overtime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0-2 yrs</c:v>
                </c:pt>
                <c:pt idx="1">
                  <c:v>3-5 yrs</c:v>
                </c:pt>
                <c:pt idx="2">
                  <c:v>6-10 yrs</c:v>
                </c:pt>
                <c:pt idx="3">
                  <c:v>11+ yrs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51</c:v>
                </c:pt>
                <c:pt idx="1">
                  <c:v>28.3</c:v>
                </c:pt>
                <c:pt idx="2">
                  <c:v>25.8</c:v>
                </c:pt>
                <c:pt idx="3">
                  <c:v>10.8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15-444C-A094-07BEFD756E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6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Attrition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6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010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754880"/>
            <a:ext cx="3657600" cy="36576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ATTRITION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and Recommendations for Reducing Employee Turnover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6172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 |  Case Study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Scale of 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1,470 employees across three departments. Attrition isn't random it concentrates in identifiable, addressable segments.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60520" y="169164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60520" y="18288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237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160520" y="26060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who left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0" y="169164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0" y="18288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16.1%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772400" y="26060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segments of the workforce show attrition rates 2–4x the company baseline. The rest of this presentation walks through each, and what to do about it.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 Drivers vs. Baseline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multiplier by segment (baseline = 1.0x)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80097191"/>
              </p:ext>
            </p:extLst>
          </p:nvPr>
        </p:nvGraphicFramePr>
        <p:xfrm>
          <a:off x="548640" y="1417320"/>
          <a:ext cx="11064240" cy="4892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Overtime Is Driving the Sharpest Attrition Spikes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FDEEE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691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Low-income employees working overtime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56.14%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17.4% off overtime, over 3x their non-OT peers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(64 of 113 employees)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38404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Technicians on overtime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1605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68680" y="48463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15.7% off overtime, over 3x their non-OT peers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(31 of 62 employees)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0" y="1508760"/>
            <a:ext cx="5669280" cy="3886200"/>
          </a:xfrm>
          <a:prstGeom prst="roundRect">
            <a:avLst>
              <a:gd name="adj" fmla="val 1882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6364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1796210"/>
            <a:ext cx="5029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isolated to low-income individuals, overtime amplifies attrition risk across multiple indicators.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audit workload, cap overtime hours, and pair with a targeted compensation review.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account assignments so overtime doesn't concentrate on the same people quarter after quarter.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Involvement Predicts Attrition Better Than Satisfaction</a:t>
            </a:r>
            <a:endParaRPr lang="en-US" sz="25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337521557"/>
              </p:ext>
            </p:extLst>
          </p:nvPr>
        </p:nvGraphicFramePr>
        <p:xfrm>
          <a:off x="548640" y="1463040"/>
          <a:ext cx="63093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463040"/>
            <a:ext cx="4526280" cy="1371600"/>
          </a:xfrm>
          <a:prstGeom prst="roundRect">
            <a:avLst>
              <a:gd name="adj" fmla="val 5333"/>
            </a:avLst>
          </a:prstGeom>
          <a:solidFill>
            <a:srgbClr val="FDEEE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60920" y="1600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involvement levels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60920" y="18745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3.7x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360920" y="241300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Level-1 employees leave at 33.7% vs just 9.0% at level 4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086600" y="306324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involvement is a stronger predictor of attrition than job satisfaction — the step-down across levels is the cleanest pattern in the dataset.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review how managers assign work. Low involvement often comes from unclear ownership or repetitive tasks, not workload volume.</a:t>
            </a:r>
            <a:endParaRPr lang="en-US" sz="11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role scoping so employees own a full piece of work end-to-end, and supervise manager work assignment for low-involvement employees.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Young Employees and Poor Work-Life Balance Compound the Risk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F7F8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6459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age 24 and under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39.2%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- 2.4x the baseline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066864"/>
            <a:ext cx="4617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mentorship for the first six months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clear promotion timeline at hire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30/60/90-day check-ins beyond standard onboarding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46304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F7F8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16459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reporting the worst work-life balance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92240" y="20116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31.3%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492240" y="28346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- nearly 2x the baseline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3066864"/>
            <a:ext cx="4617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workload distribution across teams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flexible scheduling where the role allows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WLB scores quarterly as a leading indicator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Hires on Overtime Are the Highest-Risk Combination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63093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463040"/>
            <a:ext cx="4526280" cy="1508760"/>
          </a:xfrm>
          <a:prstGeom prst="roundRect">
            <a:avLst>
              <a:gd name="adj" fmla="val 4848"/>
            </a:avLst>
          </a:prstGeom>
          <a:solidFill>
            <a:srgbClr val="FDEEE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60920" y="16002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in year 1-2, working overtime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60920" y="1965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51.0%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360920" y="2513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20.6% off overtime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(104 employees on OT in this group)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086600" y="320040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highest-risk combination in the dataset — and on a much larger base (104 people) than the Sales Rep + overtime outlier (24 people).</a:t>
            </a:r>
            <a:endParaRPr lang="en-US" sz="110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is concentrated in the ramp period: overtime attrition drops from 51% to 28% by year 3, and keeps falling with tenure.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cap or closely monitor overtime for employees in their first two years, and prioritize this group for retention check-ins.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drivers, ranked by evidence strength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34201"/>
              </p:ext>
            </p:extLst>
          </p:nvPr>
        </p:nvGraphicFramePr>
        <p:xfrm>
          <a:off x="548640" y="1417320"/>
          <a:ext cx="11064240" cy="427939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Overtime overload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Low-income employees on OT: 56.14% attrition (3.48x baseline)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overtime, rebalance workload, targeted comp review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hires on overtime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51.0% attrition (yr 1-2 + OT) vs 20.6% off OT (n=104)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OT for first-two-year employees, add retention check-ins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job involvement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33.7% attrition at level 1 vs 9.0% at level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Redesign role scoping, review manager work assignment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tenure (age ≤24)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39.2% attrition, 2.4x 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Mentorship program, clear promotion timeline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work-life balance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31.3% attrition, nearly 2x 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 audit, flexible scheduling pilot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9875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the overtime and </a:t>
            </a:r>
            <a:r>
              <a:rPr lang="en-US" sz="15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job-involvement interventions, strongest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fastest to act on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the early-tenure mentorship track with the next new-hire cohort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or closely monitor overtime for employees in their first two years</a:t>
            </a:r>
            <a:endParaRPr lang="en-US" sz="15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these five metrics quarterly in the live dashboard to measure impact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96737" y="5486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709</Words>
  <Application>Microsoft Office PowerPoint</Application>
  <PresentationFormat>Widescreen</PresentationFormat>
  <Paragraphs>108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Attrition Insights &amp; Recommendations</dc:title>
  <dc:subject>PptxGenJS Presentation</dc:subject>
  <dc:creator>BI Developer Case Study</dc:creator>
  <cp:lastModifiedBy>Ahmed Tarek Mohamed El Sawy</cp:lastModifiedBy>
  <cp:revision>23</cp:revision>
  <dcterms:created xsi:type="dcterms:W3CDTF">2026-07-04T12:14:08Z</dcterms:created>
  <dcterms:modified xsi:type="dcterms:W3CDTF">2026-07-05T12:09:54Z</dcterms:modified>
</cp:coreProperties>
</file>